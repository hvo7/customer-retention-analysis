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8AB096-502C-4CC0-9240-ACA9084E787F}" v="2722" dt="2025-12-14T06:01:05.04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7" d="100"/>
          <a:sy n="97" d="100"/>
        </p:scale>
        <p:origin x="1074" y="3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Henry Vo" userId="c18cca123e130253" providerId="LiveId" clId="{CBED1F73-AEB6-48AF-B30C-D6CFC8A51246}"/>
    <pc:docChg chg="undo custSel addSld modSld">
      <pc:chgData name="Henry Vo" userId="c18cca123e130253" providerId="LiveId" clId="{CBED1F73-AEB6-48AF-B30C-D6CFC8A51246}" dt="2025-12-14T06:01:11.482" v="3630" actId="20577"/>
      <pc:docMkLst>
        <pc:docMk/>
      </pc:docMkLst>
      <pc:sldChg chg="modSp mod">
        <pc:chgData name="Henry Vo" userId="c18cca123e130253" providerId="LiveId" clId="{CBED1F73-AEB6-48AF-B30C-D6CFC8A51246}" dt="2025-12-09T03:58:31.185" v="1029"/>
        <pc:sldMkLst>
          <pc:docMk/>
          <pc:sldMk cId="1747761490" sldId="256"/>
        </pc:sldMkLst>
        <pc:spChg chg="mod">
          <ac:chgData name="Henry Vo" userId="c18cca123e130253" providerId="LiveId" clId="{CBED1F73-AEB6-48AF-B30C-D6CFC8A51246}" dt="2025-12-09T03:58:31.185" v="1029"/>
          <ac:spMkLst>
            <pc:docMk/>
            <pc:sldMk cId="1747761490" sldId="256"/>
            <ac:spMk id="2" creationId="{63B1AEAF-7047-3489-8B51-E909FA6B81B0}"/>
          </ac:spMkLst>
        </pc:spChg>
      </pc:sldChg>
      <pc:sldChg chg="addSp delSp modSp mod">
        <pc:chgData name="Henry Vo" userId="c18cca123e130253" providerId="LiveId" clId="{CBED1F73-AEB6-48AF-B30C-D6CFC8A51246}" dt="2025-12-09T04:07:19.297" v="1935" actId="14100"/>
        <pc:sldMkLst>
          <pc:docMk/>
          <pc:sldMk cId="2863434639" sldId="257"/>
        </pc:sldMkLst>
        <pc:spChg chg="mod">
          <ac:chgData name="Henry Vo" userId="c18cca123e130253" providerId="LiveId" clId="{CBED1F73-AEB6-48AF-B30C-D6CFC8A51246}" dt="2025-12-09T04:07:19.297" v="1935" actId="14100"/>
          <ac:spMkLst>
            <pc:docMk/>
            <pc:sldMk cId="2863434639" sldId="257"/>
            <ac:spMk id="2" creationId="{D9D8056B-9063-E968-A1F3-E1824812A22F}"/>
          </ac:spMkLst>
        </pc:spChg>
        <pc:spChg chg="add mod topLvl">
          <ac:chgData name="Henry Vo" userId="c18cca123e130253" providerId="LiveId" clId="{CBED1F73-AEB6-48AF-B30C-D6CFC8A51246}" dt="2025-12-09T03:57:38.751" v="1007" actId="122"/>
          <ac:spMkLst>
            <pc:docMk/>
            <pc:sldMk cId="2863434639" sldId="257"/>
            <ac:spMk id="3" creationId="{919C429F-5C2B-3714-7281-3EDE68F7C32D}"/>
          </ac:spMkLst>
        </pc:spChg>
        <pc:spChg chg="add mod topLvl">
          <ac:chgData name="Henry Vo" userId="c18cca123e130253" providerId="LiveId" clId="{CBED1F73-AEB6-48AF-B30C-D6CFC8A51246}" dt="2025-12-09T03:57:02.103" v="996" actId="164"/>
          <ac:spMkLst>
            <pc:docMk/>
            <pc:sldMk cId="2863434639" sldId="257"/>
            <ac:spMk id="10" creationId="{9A195A27-4EA8-1721-3F96-BF7CA2341DA2}"/>
          </ac:spMkLst>
        </pc:spChg>
        <pc:spChg chg="add mod topLvl">
          <ac:chgData name="Henry Vo" userId="c18cca123e130253" providerId="LiveId" clId="{CBED1F73-AEB6-48AF-B30C-D6CFC8A51246}" dt="2025-12-09T03:57:37.070" v="1006" actId="14100"/>
          <ac:spMkLst>
            <pc:docMk/>
            <pc:sldMk cId="2863434639" sldId="257"/>
            <ac:spMk id="14" creationId="{793DB77D-16B2-FCD6-9DDB-5501DFF05DC0}"/>
          </ac:spMkLst>
        </pc:spChg>
        <pc:spChg chg="add mod topLvl">
          <ac:chgData name="Henry Vo" userId="c18cca123e130253" providerId="LiveId" clId="{CBED1F73-AEB6-48AF-B30C-D6CFC8A51246}" dt="2025-12-09T03:57:10.083" v="999" actId="14100"/>
          <ac:spMkLst>
            <pc:docMk/>
            <pc:sldMk cId="2863434639" sldId="257"/>
            <ac:spMk id="17" creationId="{4B69FF72-BFBE-406B-E11C-5713E52016B7}"/>
          </ac:spMkLst>
        </pc:spChg>
        <pc:spChg chg="add mod topLvl">
          <ac:chgData name="Henry Vo" userId="c18cca123e130253" providerId="LiveId" clId="{CBED1F73-AEB6-48AF-B30C-D6CFC8A51246}" dt="2025-12-09T03:57:34.953" v="1005" actId="14100"/>
          <ac:spMkLst>
            <pc:docMk/>
            <pc:sldMk cId="2863434639" sldId="257"/>
            <ac:spMk id="19" creationId="{2D566DE3-CE67-B22D-1EBB-5C36BDD5B411}"/>
          </ac:spMkLst>
        </pc:spChg>
        <pc:spChg chg="add mod topLvl">
          <ac:chgData name="Henry Vo" userId="c18cca123e130253" providerId="LiveId" clId="{CBED1F73-AEB6-48AF-B30C-D6CFC8A51246}" dt="2025-12-09T03:57:11.734" v="1000" actId="14100"/>
          <ac:spMkLst>
            <pc:docMk/>
            <pc:sldMk cId="2863434639" sldId="257"/>
            <ac:spMk id="21" creationId="{F6FDA69B-B0E0-68A4-6E3F-543C1D2F347F}"/>
          </ac:spMkLst>
        </pc:spChg>
        <pc:spChg chg="add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23" creationId="{35A26B54-C9CE-78D1-33AC-1545F78EA958}"/>
          </ac:spMkLst>
        </pc:spChg>
        <pc:spChg chg="add del mod topLvl">
          <ac:chgData name="Henry Vo" userId="c18cca123e130253" providerId="LiveId" clId="{CBED1F73-AEB6-48AF-B30C-D6CFC8A51246}" dt="2025-12-09T03:58:01.163" v="1015" actId="12788"/>
          <ac:spMkLst>
            <pc:docMk/>
            <pc:sldMk cId="2863434639" sldId="257"/>
            <ac:spMk id="30" creationId="{CA0EE695-7346-D7BB-09AE-D0B4E0130873}"/>
          </ac:spMkLst>
        </pc:spChg>
        <pc:spChg chg="add mod">
          <ac:chgData name="Henry Vo" userId="c18cca123e130253" providerId="LiveId" clId="{CBED1F73-AEB6-48AF-B30C-D6CFC8A51246}" dt="2025-12-08T21:26:44.864" v="887" actId="1076"/>
          <ac:spMkLst>
            <pc:docMk/>
            <pc:sldMk cId="2863434639" sldId="257"/>
            <ac:spMk id="31" creationId="{DC0E58CB-8570-1F30-D90F-97EA9E5FAFB8}"/>
          </ac:spMkLst>
        </pc:spChg>
        <pc:grpChg chg="add mod">
          <ac:chgData name="Henry Vo" userId="c18cca123e130253" providerId="LiveId" clId="{CBED1F73-AEB6-48AF-B30C-D6CFC8A51246}" dt="2025-12-09T03:57:08.433" v="998" actId="1076"/>
          <ac:grpSpMkLst>
            <pc:docMk/>
            <pc:sldMk cId="2863434639" sldId="257"/>
            <ac:grpSpMk id="9" creationId="{3D4C74FA-BE3B-3F4A-3E74-80B0FFF1E258}"/>
          </ac:grpSpMkLst>
        </pc:grpChg>
        <pc:cxnChg chg="add mod">
          <ac:chgData name="Henry Vo" userId="c18cca123e130253" providerId="LiveId" clId="{CBED1F73-AEB6-48AF-B30C-D6CFC8A51246}" dt="2025-12-09T03:56:26.471" v="984" actId="12788"/>
          <ac:cxnSpMkLst>
            <pc:docMk/>
            <pc:sldMk cId="2863434639" sldId="257"/>
            <ac:cxnSpMk id="12" creationId="{9AD999DD-5D6B-BE84-042E-B8208BB54C88}"/>
          </ac:cxnSpMkLst>
        </pc:cxnChg>
      </pc:sldChg>
      <pc:sldChg chg="addSp delSp modSp new mod">
        <pc:chgData name="Henry Vo" userId="c18cca123e130253" providerId="LiveId" clId="{CBED1F73-AEB6-48AF-B30C-D6CFC8A51246}" dt="2025-12-10T15:13:53.914" v="2911" actId="1076"/>
        <pc:sldMkLst>
          <pc:docMk/>
          <pc:sldMk cId="1201758319" sldId="258"/>
        </pc:sldMkLst>
        <pc:spChg chg="add mod">
          <ac:chgData name="Henry Vo" userId="c18cca123e130253" providerId="LiveId" clId="{CBED1F73-AEB6-48AF-B30C-D6CFC8A51246}" dt="2025-12-10T15:13:53.914" v="2911" actId="1076"/>
          <ac:spMkLst>
            <pc:docMk/>
            <pc:sldMk cId="1201758319" sldId="258"/>
            <ac:spMk id="2" creationId="{030A29F2-43E6-A0BD-7F79-6B5DDECF4C7E}"/>
          </ac:spMkLst>
        </pc:spChg>
        <pc:spChg chg="add mod">
          <ac:chgData name="Henry Vo" userId="c18cca123e130253" providerId="LiveId" clId="{CBED1F73-AEB6-48AF-B30C-D6CFC8A51246}" dt="2025-12-09T04:08:36.021" v="1962" actId="20577"/>
          <ac:spMkLst>
            <pc:docMk/>
            <pc:sldMk cId="1201758319" sldId="258"/>
            <ac:spMk id="4" creationId="{B0766AAF-2B3E-AD6E-4751-B0E7E1DA740E}"/>
          </ac:spMkLst>
        </pc:spChg>
        <pc:spChg chg="add mod">
          <ac:chgData name="Henry Vo" userId="c18cca123e130253" providerId="LiveId" clId="{CBED1F73-AEB6-48AF-B30C-D6CFC8A51246}" dt="2025-12-09T04:02:49.951" v="1441" actId="120"/>
          <ac:spMkLst>
            <pc:docMk/>
            <pc:sldMk cId="1201758319" sldId="258"/>
            <ac:spMk id="8" creationId="{672139E3-B1CA-8CC6-9E24-7512BE5CE0AE}"/>
          </ac:spMkLst>
        </pc:spChg>
        <pc:graphicFrameChg chg="add mod">
          <ac:chgData name="Henry Vo" userId="c18cca123e130253" providerId="LiveId" clId="{CBED1F73-AEB6-48AF-B30C-D6CFC8A51246}" dt="2025-12-09T04:04:08.235" v="1451"/>
          <ac:graphicFrameMkLst>
            <pc:docMk/>
            <pc:sldMk cId="1201758319" sldId="258"/>
            <ac:graphicFrameMk id="6" creationId="{3F6B7EF6-81DB-8E3D-3AC7-3F9ABC236B5C}"/>
          </ac:graphicFrameMkLst>
        </pc:graphicFrameChg>
      </pc:sldChg>
      <pc:sldChg chg="addSp delSp modSp new mod">
        <pc:chgData name="Henry Vo" userId="c18cca123e130253" providerId="LiveId" clId="{CBED1F73-AEB6-48AF-B30C-D6CFC8A51246}" dt="2025-12-10T15:12:49.657" v="2746" actId="1076"/>
        <pc:sldMkLst>
          <pc:docMk/>
          <pc:sldMk cId="2199859215" sldId="259"/>
        </pc:sldMkLst>
        <pc:spChg chg="add mod">
          <ac:chgData name="Henry Vo" userId="c18cca123e130253" providerId="LiveId" clId="{CBED1F73-AEB6-48AF-B30C-D6CFC8A51246}" dt="2025-12-09T04:22:00.455" v="2137" actId="14100"/>
          <ac:spMkLst>
            <pc:docMk/>
            <pc:sldMk cId="2199859215" sldId="259"/>
            <ac:spMk id="14" creationId="{04F140DE-E0A3-024D-3F34-D5FF4EBA6563}"/>
          </ac:spMkLst>
        </pc:spChg>
        <pc:spChg chg="add mod">
          <ac:chgData name="Henry Vo" userId="c18cca123e130253" providerId="LiveId" clId="{CBED1F73-AEB6-48AF-B30C-D6CFC8A51246}" dt="2025-12-10T15:12:49.657" v="2746" actId="1076"/>
          <ac:spMkLst>
            <pc:docMk/>
            <pc:sldMk cId="2199859215" sldId="259"/>
            <ac:spMk id="20" creationId="{AFDB625E-7765-A5E4-723B-70D4D991BF09}"/>
          </ac:spMkLst>
        </pc:spChg>
        <pc:spChg chg="add mod ord">
          <ac:chgData name="Henry Vo" userId="c18cca123e130253" providerId="LiveId" clId="{CBED1F73-AEB6-48AF-B30C-D6CFC8A51246}" dt="2025-12-09T04:37:40.427" v="2725" actId="12788"/>
          <ac:spMkLst>
            <pc:docMk/>
            <pc:sldMk cId="2199859215" sldId="259"/>
            <ac:spMk id="21" creationId="{B65BD222-C80C-C118-817D-E583CE1BD587}"/>
          </ac:spMkLst>
        </pc:spChg>
        <pc:picChg chg="add mod">
          <ac:chgData name="Henry Vo" userId="c18cca123e130253" providerId="LiveId" clId="{CBED1F73-AEB6-48AF-B30C-D6CFC8A51246}" dt="2025-12-09T04:37:40.427" v="2725" actId="12788"/>
          <ac:picMkLst>
            <pc:docMk/>
            <pc:sldMk cId="2199859215" sldId="259"/>
            <ac:picMk id="27" creationId="{3ED2E026-1164-F8DB-1417-AB07C60BCD94}"/>
          </ac:picMkLst>
        </pc:picChg>
      </pc:sldChg>
      <pc:sldChg chg="addSp delSp modSp new mod">
        <pc:chgData name="Henry Vo" userId="c18cca123e130253" providerId="LiveId" clId="{CBED1F73-AEB6-48AF-B30C-D6CFC8A51246}" dt="2025-12-10T15:46:37.961" v="3578" actId="20577"/>
        <pc:sldMkLst>
          <pc:docMk/>
          <pc:sldMk cId="3564352135" sldId="260"/>
        </pc:sldMkLst>
        <pc:spChg chg="add mod">
          <ac:chgData name="Henry Vo" userId="c18cca123e130253" providerId="LiveId" clId="{CBED1F73-AEB6-48AF-B30C-D6CFC8A51246}" dt="2025-12-10T15:46:37.961" v="3578" actId="20577"/>
          <ac:spMkLst>
            <pc:docMk/>
            <pc:sldMk cId="3564352135" sldId="260"/>
            <ac:spMk id="12" creationId="{009599A0-8BEE-E10F-54F5-BE1CE508E0A9}"/>
          </ac:spMkLst>
        </pc:spChg>
        <pc:spChg chg="add mod">
          <ac:chgData name="Henry Vo" userId="c18cca123e130253" providerId="LiveId" clId="{CBED1F73-AEB6-48AF-B30C-D6CFC8A51246}" dt="2025-12-10T15:43:46.124" v="3572" actId="1076"/>
          <ac:spMkLst>
            <pc:docMk/>
            <pc:sldMk cId="3564352135" sldId="260"/>
            <ac:spMk id="13" creationId="{7C74998D-4E22-C14D-5840-D965F19B83B1}"/>
          </ac:spMkLst>
        </pc:spChg>
        <pc:spChg chg="add mod">
          <ac:chgData name="Henry Vo" userId="c18cca123e130253" providerId="LiveId" clId="{CBED1F73-AEB6-48AF-B30C-D6CFC8A51246}" dt="2025-12-10T15:43:49.194" v="3573" actId="14100"/>
          <ac:spMkLst>
            <pc:docMk/>
            <pc:sldMk cId="3564352135" sldId="260"/>
            <ac:spMk id="14" creationId="{77FF48D3-557A-B22F-DFAB-BF9A0E988FBF}"/>
          </ac:spMkLst>
        </pc:spChg>
        <pc:picChg chg="add del mod">
          <ac:chgData name="Henry Vo" userId="c18cca123e130253" providerId="LiveId" clId="{CBED1F73-AEB6-48AF-B30C-D6CFC8A51246}" dt="2025-12-10T15:44:13.628" v="3575" actId="478"/>
          <ac:picMkLst>
            <pc:docMk/>
            <pc:sldMk cId="3564352135" sldId="260"/>
            <ac:picMk id="11" creationId="{D15C045D-2C4A-5DE4-9401-D87936C74347}"/>
          </ac:picMkLst>
        </pc:picChg>
      </pc:sldChg>
      <pc:sldChg chg="addSp delSp modSp new mod">
        <pc:chgData name="Henry Vo" userId="c18cca123e130253" providerId="LiveId" clId="{CBED1F73-AEB6-48AF-B30C-D6CFC8A51246}" dt="2025-12-14T06:01:11.482" v="3630" actId="20577"/>
        <pc:sldMkLst>
          <pc:docMk/>
          <pc:sldMk cId="3083110177" sldId="261"/>
        </pc:sldMkLst>
        <pc:spChg chg="del">
          <ac:chgData name="Henry Vo" userId="c18cca123e130253" providerId="LiveId" clId="{CBED1F73-AEB6-48AF-B30C-D6CFC8A51246}" dt="2025-12-14T05:57:07.842" v="3580" actId="478"/>
          <ac:spMkLst>
            <pc:docMk/>
            <pc:sldMk cId="3083110177" sldId="261"/>
            <ac:spMk id="2" creationId="{AB1DF493-1A6D-C8F7-B185-2ED9E46BB76C}"/>
          </ac:spMkLst>
        </pc:spChg>
        <pc:spChg chg="del">
          <ac:chgData name="Henry Vo" userId="c18cca123e130253" providerId="LiveId" clId="{CBED1F73-AEB6-48AF-B30C-D6CFC8A51246}" dt="2025-12-14T05:57:06.449" v="3579" actId="478"/>
          <ac:spMkLst>
            <pc:docMk/>
            <pc:sldMk cId="3083110177" sldId="261"/>
            <ac:spMk id="3" creationId="{3A1AC856-690B-2C8E-83B1-008C098CE9CD}"/>
          </ac:spMkLst>
        </pc:spChg>
        <pc:spChg chg="add del mod">
          <ac:chgData name="Henry Vo" userId="c18cca123e130253" providerId="LiveId" clId="{CBED1F73-AEB6-48AF-B30C-D6CFC8A51246}" dt="2025-12-14T06:01:00.906" v="3583"/>
          <ac:spMkLst>
            <pc:docMk/>
            <pc:sldMk cId="3083110177" sldId="261"/>
            <ac:spMk id="4" creationId="{0D7E053D-9B6B-D4BC-3FB4-FB817B9A4FE0}"/>
          </ac:spMkLst>
        </pc:spChg>
        <pc:spChg chg="add mod">
          <ac:chgData name="Henry Vo" userId="c18cca123e130253" providerId="LiveId" clId="{CBED1F73-AEB6-48AF-B30C-D6CFC8A51246}" dt="2025-12-14T06:01:11.482" v="3630" actId="20577"/>
          <ac:spMkLst>
            <pc:docMk/>
            <pc:sldMk cId="3083110177" sldId="261"/>
            <ac:spMk id="5" creationId="{169B1C97-AA5B-69E9-2059-E2997052D437}"/>
          </ac:spMkLst>
        </pc:spChg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https://d.docs.live.net/c18cca123e130253/Personal%20Career/Personal%20Projects/Customer%20Retention%20Analysis/Customer-Retention-Analysis/Online_Retail_Analysis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8.2952380535462597E-2"/>
          <c:y val="5.3248516650990431E-2"/>
          <c:w val="0.72936124200970576"/>
          <c:h val="0.78711632794680964"/>
        </c:manualLayout>
      </c:layout>
      <c:lineChart>
        <c:grouping val="standard"/>
        <c:varyColors val="0"/>
        <c:ser>
          <c:idx val="0"/>
          <c:order val="0"/>
          <c:tx>
            <c:v>New</c:v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-4.490710946726731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6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7A9A-44DE-8A76-D83767A67C88}"/>
                </c:ext>
              </c:extLst>
            </c:dLbl>
            <c:dLbl>
              <c:idx val="7"/>
              <c:layout>
                <c:manualLayout>
                  <c:x val="0"/>
                  <c:y val="1.036317910783079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A-7A9A-44DE-8A76-D83767A67C88}"/>
                </c:ext>
              </c:extLst>
            </c:dLbl>
            <c:dLbl>
              <c:idx val="10"/>
              <c:layout>
                <c:manualLayout>
                  <c:x val="4.0680046522598087E-3"/>
                  <c:y val="-1.7271965179718199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C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Return'!$B$3:$B$13</c:f>
              <c:numCache>
                <c:formatCode>General</c:formatCode>
                <c:ptCount val="11"/>
                <c:pt idx="0">
                  <c:v>417</c:v>
                </c:pt>
                <c:pt idx="1">
                  <c:v>380</c:v>
                </c:pt>
                <c:pt idx="2">
                  <c:v>452</c:v>
                </c:pt>
                <c:pt idx="3">
                  <c:v>300</c:v>
                </c:pt>
                <c:pt idx="4">
                  <c:v>284</c:v>
                </c:pt>
                <c:pt idx="5">
                  <c:v>242</c:v>
                </c:pt>
                <c:pt idx="6">
                  <c:v>188</c:v>
                </c:pt>
                <c:pt idx="7">
                  <c:v>169</c:v>
                </c:pt>
                <c:pt idx="8">
                  <c:v>299</c:v>
                </c:pt>
                <c:pt idx="9">
                  <c:v>358</c:v>
                </c:pt>
                <c:pt idx="10">
                  <c:v>324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7A9A-44DE-8A76-D83767A67C88}"/>
            </c:ext>
          </c:extLst>
        </c:ser>
        <c:ser>
          <c:idx val="1"/>
          <c:order val="1"/>
          <c:tx>
            <c:v>Returning</c:v>
          </c:tx>
          <c:spPr>
            <a:ln w="28575" cap="rnd">
              <a:solidFill>
                <a:schemeClr val="accent4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4.0680046522598087E-3"/>
                  <c:y val="3.4543930359436266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A9A-44DE-8A76-D83767A67C88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E-7A9A-44DE-8A76-D83767A67C88}"/>
                </c:ext>
              </c:extLst>
            </c:dLbl>
            <c:dLbl>
              <c:idx val="2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7A9A-44DE-8A76-D83767A67C88}"/>
                </c:ext>
              </c:extLst>
            </c:dLbl>
            <c:dLbl>
              <c:idx val="3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0-7A9A-44DE-8A76-D83767A67C88}"/>
                </c:ext>
              </c:extLst>
            </c:dLbl>
            <c:dLbl>
              <c:idx val="4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7A9A-44DE-8A76-D83767A67C88}"/>
                </c:ext>
              </c:extLst>
            </c:dLbl>
            <c:dLbl>
              <c:idx val="5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2-7A9A-44DE-8A76-D83767A67C88}"/>
                </c:ext>
              </c:extLst>
            </c:dLbl>
            <c:dLbl>
              <c:idx val="6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3-7A9A-44DE-8A76-D83767A67C88}"/>
                </c:ext>
              </c:extLst>
            </c:dLbl>
            <c:dLbl>
              <c:idx val="7"/>
              <c:layout>
                <c:manualLayout>
                  <c:x val="-1.3560015507532695E-3"/>
                  <c:y val="3.4543930359436398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4-7A9A-44DE-8A76-D83767A67C88}"/>
                </c:ext>
              </c:extLst>
            </c:dLbl>
            <c:dLbl>
              <c:idx val="8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5-7A9A-44DE-8A76-D83767A67C88}"/>
                </c:ext>
              </c:extLst>
            </c:dLbl>
            <c:dLbl>
              <c:idx val="9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6-7A9A-44DE-8A76-D83767A67C88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numRef>
              <c:f>'New vs. Return'!$A$2:$A$14</c:f>
              <c:numCache>
                <c:formatCode>mmm\-yy</c:formatCode>
                <c:ptCount val="13"/>
                <c:pt idx="0">
                  <c:v>40513</c:v>
                </c:pt>
                <c:pt idx="1">
                  <c:v>40544</c:v>
                </c:pt>
                <c:pt idx="2">
                  <c:v>40575</c:v>
                </c:pt>
                <c:pt idx="3">
                  <c:v>40603</c:v>
                </c:pt>
                <c:pt idx="4">
                  <c:v>40634</c:v>
                </c:pt>
                <c:pt idx="5">
                  <c:v>40664</c:v>
                </c:pt>
                <c:pt idx="6">
                  <c:v>40695</c:v>
                </c:pt>
                <c:pt idx="7">
                  <c:v>40725</c:v>
                </c:pt>
                <c:pt idx="8">
                  <c:v>40756</c:v>
                </c:pt>
                <c:pt idx="9">
                  <c:v>40787</c:v>
                </c:pt>
                <c:pt idx="10">
                  <c:v>40817</c:v>
                </c:pt>
                <c:pt idx="11">
                  <c:v>40848</c:v>
                </c:pt>
                <c:pt idx="12">
                  <c:v>40878</c:v>
                </c:pt>
              </c:numCache>
            </c:numRef>
          </c:cat>
          <c:val>
            <c:numRef>
              <c:f>'New vs. Return'!$C$3:$C$13</c:f>
              <c:numCache>
                <c:formatCode>General</c:formatCode>
                <c:ptCount val="11"/>
                <c:pt idx="0">
                  <c:v>324</c:v>
                </c:pt>
                <c:pt idx="1">
                  <c:v>378</c:v>
                </c:pt>
                <c:pt idx="2">
                  <c:v>522</c:v>
                </c:pt>
                <c:pt idx="3">
                  <c:v>556</c:v>
                </c:pt>
                <c:pt idx="4">
                  <c:v>772</c:v>
                </c:pt>
                <c:pt idx="5">
                  <c:v>749</c:v>
                </c:pt>
                <c:pt idx="6">
                  <c:v>761</c:v>
                </c:pt>
                <c:pt idx="7">
                  <c:v>766</c:v>
                </c:pt>
                <c:pt idx="8">
                  <c:v>967</c:v>
                </c:pt>
                <c:pt idx="9">
                  <c:v>1006</c:v>
                </c:pt>
                <c:pt idx="10">
                  <c:v>1341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A9A-44DE-8A76-D83767A67C8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578916048"/>
        <c:axId val="1578940048"/>
      </c:lineChart>
      <c:dateAx>
        <c:axId val="1578916048"/>
        <c:scaling>
          <c:orientation val="minMax"/>
        </c:scaling>
        <c:delete val="0"/>
        <c:axPos val="b"/>
        <c:numFmt formatCode="mmm\-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40048"/>
        <c:crosses val="autoZero"/>
        <c:auto val="1"/>
        <c:lblOffset val="100"/>
        <c:baseTimeUnit val="months"/>
      </c:dateAx>
      <c:valAx>
        <c:axId val="1578940048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578916048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layout>
        <c:manualLayout>
          <c:xMode val="edge"/>
          <c:yMode val="edge"/>
          <c:x val="0.82333529496262869"/>
          <c:y val="0.43114137335787101"/>
          <c:w val="0.16215305084446466"/>
          <c:h val="0.2261842368885097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2">
  <a:schemeClr val="accent2"/>
  <a:schemeClr val="accent4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C049790-B49D-4D8D-B628-59414A006FDF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F6B6D16-8807-4B47-A511-DB6453DC6D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389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00608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F6B6D16-8807-4B47-A511-DB6453DC6DDE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76445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77396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7681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4582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0118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648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9722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0085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60642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67887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4933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925404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3643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96869623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0336243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594083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888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411A3F-4DB3-47ED-809A-CD27B21BFB64}" type="datetimeFigureOut">
              <a:rPr lang="en-US" smtClean="0"/>
              <a:t>12/13/2025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A7A68015-F89B-4405-814E-A1C890A81D0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90510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B1AEAF-7047-3489-8B51-E909FA6B81B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8344856" cy="1646302"/>
          </a:xfrm>
        </p:spPr>
        <p:txBody>
          <a:bodyPr/>
          <a:lstStyle/>
          <a:p>
            <a:pPr algn="ctr"/>
            <a:r>
              <a:rPr lang="en-US"/>
              <a:t>Customer Retention Analysis</a:t>
            </a:r>
          </a:p>
        </p:txBody>
      </p:sp>
    </p:spTree>
    <p:extLst>
      <p:ext uri="{BB962C8B-B14F-4D97-AF65-F5344CB8AC3E}">
        <p14:creationId xmlns:p14="http://schemas.microsoft.com/office/powerpoint/2010/main" val="174776149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D8056B-9063-E968-A1F3-E1824812A2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225" y="236535"/>
            <a:ext cx="4209298" cy="830997"/>
          </a:xfrm>
        </p:spPr>
        <p:txBody>
          <a:bodyPr>
            <a:noAutofit/>
          </a:bodyPr>
          <a:lstStyle/>
          <a:p>
            <a:r>
              <a:rPr lang="en-US" sz="2400"/>
              <a:t>Repeat Customers vs. One-Time Buyers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AD999DD-5D6B-BE84-042E-B8208BB54C88}"/>
              </a:ext>
            </a:extLst>
          </p:cNvPr>
          <p:cNvCxnSpPr>
            <a:cxnSpLocks/>
          </p:cNvCxnSpPr>
          <p:nvPr/>
        </p:nvCxnSpPr>
        <p:spPr>
          <a:xfrm>
            <a:off x="6096000" y="1375472"/>
            <a:ext cx="0" cy="3124673"/>
          </a:xfrm>
          <a:prstGeom prst="line">
            <a:avLst/>
          </a:prstGeom>
          <a:ln w="2857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919C429F-5C2B-3714-7281-3EDE68F7C32D}"/>
              </a:ext>
            </a:extLst>
          </p:cNvPr>
          <p:cNvSpPr txBox="1"/>
          <p:nvPr/>
        </p:nvSpPr>
        <p:spPr>
          <a:xfrm>
            <a:off x="3478064" y="1451126"/>
            <a:ext cx="205373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/>
              <a:t>Repeat Customers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93DB77D-16B2-FCD6-9DDB-5501DFF05DC0}"/>
              </a:ext>
            </a:extLst>
          </p:cNvPr>
          <p:cNvSpPr txBox="1"/>
          <p:nvPr/>
        </p:nvSpPr>
        <p:spPr>
          <a:xfrm>
            <a:off x="3968478" y="2884139"/>
            <a:ext cx="73940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$8.4M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566DE3-CE67-B22D-1EBB-5C36BDD5B411}"/>
              </a:ext>
            </a:extLst>
          </p:cNvPr>
          <p:cNvSpPr txBox="1"/>
          <p:nvPr/>
        </p:nvSpPr>
        <p:spPr>
          <a:xfrm>
            <a:off x="4050467" y="4017269"/>
            <a:ext cx="6100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/>
              <a:t>2845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3D4C74FA-BE3B-3F4A-3E74-80B0FFF1E258}"/>
              </a:ext>
            </a:extLst>
          </p:cNvPr>
          <p:cNvGrpSpPr/>
          <p:nvPr/>
        </p:nvGrpSpPr>
        <p:grpSpPr>
          <a:xfrm>
            <a:off x="6562371" y="1477956"/>
            <a:ext cx="1916908" cy="2873920"/>
            <a:chOff x="7012170" y="1485459"/>
            <a:chExt cx="1916908" cy="2873920"/>
          </a:xfrm>
        </p:grpSpPr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A195A27-4EA8-1721-3F96-BF7CA2341DA2}"/>
                </a:ext>
              </a:extLst>
            </p:cNvPr>
            <p:cNvSpPr txBox="1"/>
            <p:nvPr/>
          </p:nvSpPr>
          <p:spPr>
            <a:xfrm>
              <a:off x="7012170" y="1485459"/>
              <a:ext cx="1916908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b="1"/>
                <a:t>One-Time Buyers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4B69FF72-BFBE-406B-E11C-5713E52016B7}"/>
                </a:ext>
              </a:extLst>
            </p:cNvPr>
            <p:cNvSpPr txBox="1"/>
            <p:nvPr/>
          </p:nvSpPr>
          <p:spPr>
            <a:xfrm>
              <a:off x="7636913" y="2898322"/>
              <a:ext cx="71802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 b="1"/>
                <a:t>$600K</a:t>
              </a: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F6FDA69B-B0E0-68A4-6E3F-543C1D2F347F}"/>
                </a:ext>
              </a:extLst>
            </p:cNvPr>
            <p:cNvSpPr txBox="1"/>
            <p:nvPr/>
          </p:nvSpPr>
          <p:spPr>
            <a:xfrm>
              <a:off x="7692240" y="4051602"/>
              <a:ext cx="662691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400"/>
                <a:t>1494</a:t>
              </a:r>
            </a:p>
          </p:txBody>
        </p:sp>
      </p:grpSp>
      <p:sp>
        <p:nvSpPr>
          <p:cNvPr id="23" name="TextBox 22">
            <a:extLst>
              <a:ext uri="{FF2B5EF4-FFF2-40B4-BE49-F238E27FC236}">
                <a16:creationId xmlns:a16="http://schemas.microsoft.com/office/drawing/2014/main" id="{35A26B54-C9CE-78D1-33AC-1545F78EA958}"/>
              </a:ext>
            </a:extLst>
          </p:cNvPr>
          <p:cNvSpPr txBox="1"/>
          <p:nvPr/>
        </p:nvSpPr>
        <p:spPr>
          <a:xfrm>
            <a:off x="1905434" y="2884139"/>
            <a:ext cx="972861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/>
              <a:t>Revenue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A0EE695-7346-D7BB-09AE-D0B4E0130873}"/>
              </a:ext>
            </a:extLst>
          </p:cNvPr>
          <p:cNvSpPr txBox="1"/>
          <p:nvPr/>
        </p:nvSpPr>
        <p:spPr>
          <a:xfrm>
            <a:off x="1401430" y="4017269"/>
            <a:ext cx="198086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400" b="1"/>
              <a:t>Number of Customers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C0E58CB-8570-1F30-D90F-97EA9E5FAFB8}"/>
              </a:ext>
            </a:extLst>
          </p:cNvPr>
          <p:cNvSpPr txBox="1"/>
          <p:nvPr/>
        </p:nvSpPr>
        <p:spPr>
          <a:xfrm>
            <a:off x="1003413" y="4821928"/>
            <a:ext cx="1018517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/>
              <a:t>Repeat Customers generate 93% of revenue, making retention a crucial driver of business growth</a:t>
            </a:r>
          </a:p>
        </p:txBody>
      </p:sp>
    </p:spTree>
    <p:extLst>
      <p:ext uri="{BB962C8B-B14F-4D97-AF65-F5344CB8AC3E}">
        <p14:creationId xmlns:p14="http://schemas.microsoft.com/office/powerpoint/2010/main" val="28634346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hart 5">
            <a:extLst>
              <a:ext uri="{FF2B5EF4-FFF2-40B4-BE49-F238E27FC236}">
                <a16:creationId xmlns:a16="http://schemas.microsoft.com/office/drawing/2014/main" id="{3F6B7EF6-81DB-8E3D-3AC7-3F9ABC236B5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3312639"/>
              </p:ext>
            </p:extLst>
          </p:nvPr>
        </p:nvGraphicFramePr>
        <p:xfrm>
          <a:off x="1413114" y="1110415"/>
          <a:ext cx="9365771" cy="367647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B0766AAF-2B3E-AD6E-4751-B0E7E1DA740E}"/>
              </a:ext>
            </a:extLst>
          </p:cNvPr>
          <p:cNvSpPr txBox="1"/>
          <p:nvPr/>
        </p:nvSpPr>
        <p:spPr>
          <a:xfrm>
            <a:off x="1413115" y="5166102"/>
            <a:ext cx="998247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 sustain the growth of returning customers, we must understand customer retention and churn behaviors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72139E3-B1CA-8CC6-9E24-7512BE5C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580103"/>
          </a:xfrm>
        </p:spPr>
        <p:txBody>
          <a:bodyPr>
            <a:noAutofit/>
          </a:bodyPr>
          <a:lstStyle/>
          <a:p>
            <a:r>
              <a:rPr lang="en-US" sz="2400"/>
              <a:t>Growth driven by Returning Customers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30A29F2-43E6-A0BD-7F79-6B5DDECF4C7E}"/>
              </a:ext>
            </a:extLst>
          </p:cNvPr>
          <p:cNvSpPr txBox="1"/>
          <p:nvPr/>
        </p:nvSpPr>
        <p:spPr>
          <a:xfrm>
            <a:off x="1104763" y="6053142"/>
            <a:ext cx="998247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Returning customers are becoming an increasingly more important revenue driver </a:t>
            </a:r>
          </a:p>
        </p:txBody>
      </p:sp>
    </p:spTree>
    <p:extLst>
      <p:ext uri="{BB962C8B-B14F-4D97-AF65-F5344CB8AC3E}">
        <p14:creationId xmlns:p14="http://schemas.microsoft.com/office/powerpoint/2010/main" val="1201758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le 1">
            <a:extLst>
              <a:ext uri="{FF2B5EF4-FFF2-40B4-BE49-F238E27FC236}">
                <a16:creationId xmlns:a16="http://schemas.microsoft.com/office/drawing/2014/main" id="{04F140DE-E0A3-024D-3F34-D5FF4EBA65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Customers churn within the first 3 months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B625E-7765-A5E4-723B-70D4D991BF09}"/>
              </a:ext>
            </a:extLst>
          </p:cNvPr>
          <p:cNvSpPr txBox="1"/>
          <p:nvPr/>
        </p:nvSpPr>
        <p:spPr>
          <a:xfrm>
            <a:off x="1533832" y="4826675"/>
            <a:ext cx="9124336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79% of Customers churn after the first month 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generally improves in months 5-7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Retention varies widely by cohort, signifying inconsistent customer experience </a:t>
            </a:r>
          </a:p>
          <a:p>
            <a:pPr algn="ctr"/>
            <a:endParaRPr lang="en-US" dirty="0"/>
          </a:p>
          <a:p>
            <a:pPr algn="ctr"/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65BD222-C80C-C118-817D-E583CE1BD587}"/>
              </a:ext>
            </a:extLst>
          </p:cNvPr>
          <p:cNvSpPr txBox="1"/>
          <p:nvPr/>
        </p:nvSpPr>
        <p:spPr>
          <a:xfrm>
            <a:off x="3818390" y="1069569"/>
            <a:ext cx="45552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Percentage change in Customer Per Month</a:t>
            </a:r>
          </a:p>
        </p:txBody>
      </p:sp>
      <p:pic>
        <p:nvPicPr>
          <p:cNvPr id="27" name="Picture 26" descr="A graph with numbers and percentages&#10;&#10;AI-generated content may be incorrect.">
            <a:extLst>
              <a:ext uri="{FF2B5EF4-FFF2-40B4-BE49-F238E27FC236}">
                <a16:creationId xmlns:a16="http://schemas.microsoft.com/office/drawing/2014/main" id="{3ED2E026-1164-F8DB-1417-AB07C60BCD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2300" y="1567482"/>
            <a:ext cx="9607400" cy="3249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98592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D15C045D-2C4A-5DE4-9401-D87936C743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045" y="2028629"/>
            <a:ext cx="10821910" cy="2800741"/>
          </a:xfrm>
          <a:prstGeom prst="rect">
            <a:avLst/>
          </a:prstGeom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009599A0-8BEE-E10F-54F5-BE1CE508E0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Most Revenue is driven by a small customer group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C74998D-4E22-C14D-5840-D965F19B83B1}"/>
              </a:ext>
            </a:extLst>
          </p:cNvPr>
          <p:cNvSpPr txBox="1"/>
          <p:nvPr/>
        </p:nvSpPr>
        <p:spPr>
          <a:xfrm>
            <a:off x="685045" y="5515896"/>
            <a:ext cx="644996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Nearly half of our customers are either “Lost” or “At-Risk High Value,” representing the largest opportunity for retention 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7FF48D3-557A-B22F-DFAB-BF9A0E988FBF}"/>
              </a:ext>
            </a:extLst>
          </p:cNvPr>
          <p:cNvSpPr txBox="1"/>
          <p:nvPr/>
        </p:nvSpPr>
        <p:spPr>
          <a:xfrm>
            <a:off x="7872425" y="5515896"/>
            <a:ext cx="363453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These two groups make up over 20% of revenue, providing the biggest growth potential</a:t>
            </a:r>
          </a:p>
        </p:txBody>
      </p:sp>
    </p:spTree>
    <p:extLst>
      <p:ext uri="{BB962C8B-B14F-4D97-AF65-F5344CB8AC3E}">
        <p14:creationId xmlns:p14="http://schemas.microsoft.com/office/powerpoint/2010/main" val="35643521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1">
            <a:extLst>
              <a:ext uri="{FF2B5EF4-FFF2-40B4-BE49-F238E27FC236}">
                <a16:creationId xmlns:a16="http://schemas.microsoft.com/office/drawing/2014/main" id="{169B1C97-AA5B-69E9-2059-E2997052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6728" y="151103"/>
            <a:ext cx="4917220" cy="891116"/>
          </a:xfrm>
        </p:spPr>
        <p:txBody>
          <a:bodyPr>
            <a:noAutofit/>
          </a:bodyPr>
          <a:lstStyle/>
          <a:p>
            <a:r>
              <a:rPr lang="en-US" sz="2400" dirty="0"/>
              <a:t>Customers are considered churned after 86 days</a:t>
            </a:r>
          </a:p>
        </p:txBody>
      </p:sp>
    </p:spTree>
    <p:extLst>
      <p:ext uri="{BB962C8B-B14F-4D97-AF65-F5344CB8AC3E}">
        <p14:creationId xmlns:p14="http://schemas.microsoft.com/office/powerpoint/2010/main" val="3083110177"/>
      </p:ext>
    </p:extLst>
  </p:cSld>
  <p:clrMapOvr>
    <a:masterClrMapping/>
  </p:clrMapOvr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194</TotalTime>
  <Words>170</Words>
  <Application>Microsoft Office PowerPoint</Application>
  <PresentationFormat>Widescreen</PresentationFormat>
  <Paragraphs>32</Paragraphs>
  <Slides>6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Trebuchet MS</vt:lpstr>
      <vt:lpstr>Wingdings 3</vt:lpstr>
      <vt:lpstr>Facet</vt:lpstr>
      <vt:lpstr>Customer Retention Analysis</vt:lpstr>
      <vt:lpstr>Repeat Customers vs. One-Time Buyers</vt:lpstr>
      <vt:lpstr>Growth driven by Returning Customers</vt:lpstr>
      <vt:lpstr>Most Customers churn within the first 3 months</vt:lpstr>
      <vt:lpstr>Most Revenue is driven by a small customer group</vt:lpstr>
      <vt:lpstr>Customers are considered churned after 86 days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Henry Vo</dc:creator>
  <cp:lastModifiedBy>Henry Vo</cp:lastModifiedBy>
  <cp:revision>1</cp:revision>
  <dcterms:created xsi:type="dcterms:W3CDTF">2025-11-25T15:16:52Z</dcterms:created>
  <dcterms:modified xsi:type="dcterms:W3CDTF">2025-12-14T06:01:19Z</dcterms:modified>
</cp:coreProperties>
</file>